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1" r:id="rId11"/>
    <p:sldId id="343" r:id="rId12"/>
    <p:sldId id="344" r:id="rId13"/>
    <p:sldId id="345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93" d="100"/>
          <a:sy n="93" d="100"/>
        </p:scale>
        <p:origin x="206" y="77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7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hyperlink" Target="https://github.com/Raviranjan02112006/Heathcare-Analytics-Doctor-Visits.git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github.com/Raviranjan02112006/Heathcare-Analytics-Doctor-Visits.git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7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github.com/Raviranjan02112006/Heathcare-Analytics-Doctor-Visits.g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hyperlink" Target="https://github.com/Raviranjan02112006/Heathcare-Analytics-Doctor-Visits.git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github.com/Raviranjan02112006/Heathcare-Analytics-Doctor-Visits.git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43704" y="3224749"/>
            <a:ext cx="5718708" cy="1581649"/>
          </a:xfrm>
        </p:spPr>
        <p:txBody>
          <a:bodyPr>
            <a:normAutofit lnSpcReduction="10000"/>
          </a:bodyPr>
          <a:lstStyle/>
          <a:p>
            <a:pPr algn="r"/>
            <a:r>
              <a:rPr lang="en-US" dirty="0">
                <a:solidFill>
                  <a:schemeClr val="tx1"/>
                </a:solidFill>
              </a:rPr>
              <a:t>Student Name:- Ravi Ranjan Kumar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   College – Cluster Innovation Centre,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 University of Delhi</a:t>
            </a:r>
          </a:p>
          <a:p>
            <a:pPr algn="r"/>
            <a:r>
              <a:rPr lang="en-US" dirty="0">
                <a:solidFill>
                  <a:schemeClr val="tx1"/>
                </a:solidFill>
              </a:rPr>
              <a:t>Student ID - </a:t>
            </a:r>
            <a:r>
              <a:rPr lang="en-IN" dirty="0"/>
              <a:t>STU6a5e48692fb9c1784563817 </a:t>
            </a:r>
            <a:r>
              <a:rPr lang="en-US" dirty="0">
                <a:solidFill>
                  <a:schemeClr val="tx1"/>
                </a:solidFill>
              </a:rPr>
              <a:t>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3692" y="630826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Project Title – Healthcare Analysis for Doctor Visits TIRTC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5" name="Picture 4" descr="Powerful Web Analytics For Healthcare Providers - Privacy Respected">
            <a:extLst>
              <a:ext uri="{FF2B5EF4-FFF2-40B4-BE49-F238E27FC236}">
                <a16:creationId xmlns:a16="http://schemas.microsoft.com/office/drawing/2014/main" id="{F95EA5C2-8C06-53FB-7A4A-C84624459B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168" y="2359762"/>
            <a:ext cx="3962400" cy="3244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4602" y="1564105"/>
            <a:ext cx="6995604" cy="41468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IN" sz="2800" b="1" dirty="0"/>
          </a:p>
          <a:p>
            <a:pPr lvl="0"/>
            <a:r>
              <a:rPr lang="en-IN" sz="2800" dirty="0"/>
              <a:t>Analyse healthcare data to identify patterns in doctor visits.</a:t>
            </a:r>
          </a:p>
          <a:p>
            <a:pPr lvl="0"/>
            <a:r>
              <a:rPr lang="en-IN" sz="2800" dirty="0"/>
              <a:t>Examine the influence of demographic, socioeconomic, and health-related factors.</a:t>
            </a:r>
          </a:p>
          <a:p>
            <a:pPr lvl="0"/>
            <a:r>
              <a:rPr lang="en-IN" sz="2800" dirty="0"/>
              <a:t>Apply Exploratory Data Analysis (EDA) and data visualization.</a:t>
            </a:r>
          </a:p>
          <a:p>
            <a:pPr lvl="0"/>
            <a:r>
              <a:rPr lang="en-IN" sz="2800" dirty="0"/>
              <a:t>Predict doctor visits using Linear Regression and Random Forest.</a:t>
            </a:r>
          </a:p>
          <a:p>
            <a:pPr lvl="0"/>
            <a:r>
              <a:rPr lang="en-IN" sz="2800" dirty="0"/>
              <a:t>Compare model performance using MAE, RMSE, and R².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r>
              <a:rPr lang="en-GB" dirty="0"/>
              <a:t>[write detail description about your project ] 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6875" y="1679258"/>
            <a:ext cx="6593841" cy="399002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lang="en-IN" sz="3600" b="1" dirty="0"/>
          </a:p>
          <a:p>
            <a:pPr lvl="0"/>
            <a:r>
              <a:rPr lang="en-IN" sz="3600" dirty="0"/>
              <a:t>Healthcare Providers: To understand patient visit patterns and healthcare utilization.</a:t>
            </a:r>
          </a:p>
          <a:p>
            <a:pPr lvl="0"/>
            <a:r>
              <a:rPr lang="en-IN" sz="3600" dirty="0"/>
              <a:t>Hospital Administrators: To support resource allocation and service planning.</a:t>
            </a:r>
          </a:p>
          <a:p>
            <a:pPr lvl="0"/>
            <a:r>
              <a:rPr lang="en-IN" sz="3600" dirty="0"/>
              <a:t>Healthcare Analysts: To identify trends and relationships in healthcare data.</a:t>
            </a:r>
          </a:p>
          <a:p>
            <a:pPr lvl="0"/>
            <a:r>
              <a:rPr lang="en-IN" sz="3600" dirty="0"/>
              <a:t>Public Health Authorities: To support healthcare planning and policy development.</a:t>
            </a:r>
          </a:p>
          <a:p>
            <a:pPr lvl="0"/>
            <a:r>
              <a:rPr lang="en-IN" sz="3600" dirty="0"/>
              <a:t>Researchers and Academicians: To study healthcare utilization patterns using data analytics.</a:t>
            </a:r>
          </a:p>
          <a:p>
            <a:pPr lvl="0"/>
            <a:r>
              <a:rPr lang="en-IN" sz="3600" dirty="0"/>
              <a:t>Insurance Companies: To understand healthcare service utilization trends for planning and analysis.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pic>
        <p:nvPicPr>
          <p:cNvPr id="3" name="Picture 2" descr="Elevating Each Other: How Healthcare Professionals Collaborate Across Fields">
            <a:extLst>
              <a:ext uri="{FF2B5EF4-FFF2-40B4-BE49-F238E27FC236}">
                <a16:creationId xmlns:a16="http://schemas.microsoft.com/office/drawing/2014/main" id="{89B7966F-844D-84DA-FAE5-2C3B57624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6914" y="2021305"/>
            <a:ext cx="4389522" cy="306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1498332"/>
            <a:ext cx="6863348" cy="4108384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/>
              <a:t>Python </a:t>
            </a:r>
            <a:r>
              <a:rPr lang="en-IN" dirty="0"/>
              <a:t>– Core programming language for data analysis and prediction.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b="1" dirty="0"/>
              <a:t> </a:t>
            </a:r>
            <a:r>
              <a:rPr lang="en-IN" dirty="0"/>
              <a:t>– Cloud-based environment for executing Python code.</a:t>
            </a:r>
          </a:p>
          <a:p>
            <a:pPr lvl="0"/>
            <a:r>
              <a:rPr lang="en-IN" b="1" dirty="0"/>
              <a:t>Pandas </a:t>
            </a:r>
            <a:r>
              <a:rPr lang="en-IN" dirty="0"/>
              <a:t>– Data manipulation and cleaning.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Numerical computations.</a:t>
            </a:r>
          </a:p>
          <a:p>
            <a:pPr lvl="0"/>
            <a:r>
              <a:rPr lang="en-IN" b="1" dirty="0"/>
              <a:t>Matplotlib </a:t>
            </a:r>
            <a:r>
              <a:rPr lang="en-IN" dirty="0"/>
              <a:t>– Data visualization.</a:t>
            </a:r>
          </a:p>
          <a:p>
            <a:pPr lvl="0"/>
            <a:r>
              <a:rPr lang="en-IN" b="1" dirty="0"/>
              <a:t>Seaborn</a:t>
            </a:r>
            <a:r>
              <a:rPr lang="en-IN" dirty="0"/>
              <a:t> – Statistical analysis and visualization.</a:t>
            </a:r>
          </a:p>
          <a:p>
            <a:pPr lvl="0"/>
            <a:r>
              <a:rPr lang="en-IN" b="1" dirty="0"/>
              <a:t>Scikit-learn </a:t>
            </a:r>
            <a:r>
              <a:rPr lang="en-IN" dirty="0"/>
              <a:t>– Machine learning and model evaluation.</a:t>
            </a:r>
          </a:p>
          <a:p>
            <a:pPr lvl="0"/>
            <a:r>
              <a:rPr lang="en-IN" b="1" dirty="0"/>
              <a:t>Linear Regression </a:t>
            </a:r>
            <a:r>
              <a:rPr lang="en-IN" dirty="0"/>
              <a:t>– Predicting the number of doctor visits.</a:t>
            </a:r>
          </a:p>
          <a:p>
            <a:pPr lvl="0"/>
            <a:r>
              <a:rPr lang="en-IN" b="1" dirty="0"/>
              <a:t>Random Forest Regression </a:t>
            </a:r>
            <a:r>
              <a:rPr lang="en-IN" dirty="0"/>
              <a:t>– Modelling complex patterns in healthcare data.</a:t>
            </a:r>
          </a:p>
          <a:p>
            <a:pPr lvl="0"/>
            <a:r>
              <a:rPr lang="en-IN" b="1" dirty="0"/>
              <a:t>CSV</a:t>
            </a:r>
            <a:r>
              <a:rPr lang="en-IN" dirty="0"/>
              <a:t> – Healthcare dataset storage and export format.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pic>
        <p:nvPicPr>
          <p:cNvPr id="3" name="Picture 2" descr="Top 7 Python Libraries Used For Data Science in 2026">
            <a:extLst>
              <a:ext uri="{FF2B5EF4-FFF2-40B4-BE49-F238E27FC236}">
                <a16:creationId xmlns:a16="http://schemas.microsoft.com/office/drawing/2014/main" id="{95EE19C4-82F8-658D-B21A-406965EAC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0530" y="1251284"/>
            <a:ext cx="4646140" cy="434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675957" y="5732057"/>
            <a:ext cx="3603609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dirty="0">
                <a:solidFill>
                  <a:srgbClr val="0070C0"/>
                </a:solidFill>
              </a:rPr>
              <a:t>:-   </a:t>
            </a:r>
          </a:p>
          <a:p>
            <a:r>
              <a:rPr lang="en-GB" sz="2000" b="0" dirty="0">
                <a:solidFill>
                  <a:srgbClr val="0070C0"/>
                </a:solidFill>
              </a:rPr>
              <a:t> </a:t>
            </a:r>
            <a:r>
              <a:rPr lang="en-GB" sz="2000" b="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https://github.com/Raviranjan02112006/Heathcare-Analytics-Doctor-Visits.git</a:t>
            </a:r>
            <a:endParaRPr lang="en-IN" b="0" u="sng" dirty="0">
              <a:solidFill>
                <a:schemeClr val="accent2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7F5632-568B-064B-B119-229A7560D4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294" y="1363603"/>
            <a:ext cx="2724968" cy="22387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814FC63-DD57-64CE-2D09-F6DE11F82D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7070" y="1420879"/>
            <a:ext cx="5543120" cy="21241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C5E1FA2-4F19-AD9C-F706-4B730D904A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0416" y="3928230"/>
            <a:ext cx="5616427" cy="15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AD8DB-67C1-0B1A-9067-463A64E2C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40172F-3A3C-0AEB-4B0F-1D0D2477F5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8A4E451A-CDF1-2CC1-43BD-690074D1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71590FBA-A959-A91C-1DEE-ED042095B91E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337390D-FB29-DA56-E92E-ED84FAF9B3C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D52A2633-79D7-0863-3057-4A9ED89D0BB7}"/>
              </a:ext>
            </a:extLst>
          </p:cNvPr>
          <p:cNvSpPr txBox="1">
            <a:spLocks/>
          </p:cNvSpPr>
          <p:nvPr/>
        </p:nvSpPr>
        <p:spPr>
          <a:xfrm>
            <a:off x="675957" y="5732057"/>
            <a:ext cx="3603609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dirty="0">
                <a:solidFill>
                  <a:srgbClr val="0070C0"/>
                </a:solidFill>
              </a:rPr>
              <a:t>:-   </a:t>
            </a:r>
          </a:p>
          <a:p>
            <a:r>
              <a:rPr lang="en-GB" sz="2000" b="0" dirty="0">
                <a:solidFill>
                  <a:srgbClr val="0070C0"/>
                </a:solidFill>
              </a:rPr>
              <a:t> </a:t>
            </a:r>
            <a:r>
              <a:rPr lang="en-GB" sz="2000" b="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https://github.com/Raviranjan02112006/Heathcare-Analytics-Doctor-Visits.git</a:t>
            </a:r>
            <a:endParaRPr lang="en-IN" b="0" u="sng" dirty="0">
              <a:solidFill>
                <a:schemeClr val="accent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514F38-9D2F-8BFC-5BFB-8DF90C780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40" y="1344608"/>
            <a:ext cx="4777907" cy="357194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ADC0436-771E-142F-B0D8-0ACF8E0B83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815" y="1442466"/>
            <a:ext cx="5282945" cy="337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47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09C78-39A8-1A88-799E-22592D48A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E7793A-6CA6-5B52-C896-03A86DFBC3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CE125DF-9811-5758-3FF6-585177573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3831875" cy="666079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513C3F1-56E6-FD25-1844-715D9513F90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5C17C96-963B-87E7-8CD8-8DF382469ED8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6B09BF8-0FC1-FCFE-E3FE-EA40CBE8ECE2}"/>
              </a:ext>
            </a:extLst>
          </p:cNvPr>
          <p:cNvSpPr txBox="1">
            <a:spLocks/>
          </p:cNvSpPr>
          <p:nvPr/>
        </p:nvSpPr>
        <p:spPr>
          <a:xfrm>
            <a:off x="675957" y="5732057"/>
            <a:ext cx="3603609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dirty="0">
                <a:solidFill>
                  <a:srgbClr val="0070C0"/>
                </a:solidFill>
              </a:rPr>
              <a:t>:-   </a:t>
            </a:r>
          </a:p>
          <a:p>
            <a:r>
              <a:rPr lang="en-GB" sz="2000" b="0" dirty="0">
                <a:solidFill>
                  <a:srgbClr val="0070C0"/>
                </a:solidFill>
              </a:rPr>
              <a:t> </a:t>
            </a:r>
            <a:r>
              <a:rPr lang="en-GB" sz="2000" b="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https://github.com/Raviranjan02112006/Heathcare-Analytics-Doctor-Visits.git</a:t>
            </a:r>
            <a:endParaRPr lang="en-IN" b="0" u="sng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893893F-9F3C-D105-F586-88DB60A3AD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57" y="1152624"/>
            <a:ext cx="3603609" cy="278571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813910-E6A3-4146-D0CF-95D3B201AE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12436" y="831966"/>
            <a:ext cx="3448609" cy="28581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1204334-5A6E-B317-2E6C-2D59206064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1103" y="2775724"/>
            <a:ext cx="2909796" cy="270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85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49DF-EB4A-C10F-436F-6E647E12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A2E5E-DC52-FBA2-ABB7-7D2D012A10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A7D5C30-094C-92A8-ED89-B6D6385CD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3831875" cy="666079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6A5B25FC-5F13-C7EF-3F7B-0312F778338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713C5C50-6E65-C6DD-479B-186D11F7A5F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8976D83-E4A8-EBA0-A9AF-BE650B3D1F1D}"/>
              </a:ext>
            </a:extLst>
          </p:cNvPr>
          <p:cNvSpPr txBox="1">
            <a:spLocks/>
          </p:cNvSpPr>
          <p:nvPr/>
        </p:nvSpPr>
        <p:spPr>
          <a:xfrm>
            <a:off x="675957" y="5732057"/>
            <a:ext cx="3603609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dirty="0">
                <a:solidFill>
                  <a:srgbClr val="0070C0"/>
                </a:solidFill>
              </a:rPr>
              <a:t>:-   </a:t>
            </a:r>
          </a:p>
          <a:p>
            <a:r>
              <a:rPr lang="en-GB" sz="2000" b="0" dirty="0">
                <a:solidFill>
                  <a:srgbClr val="0070C0"/>
                </a:solidFill>
              </a:rPr>
              <a:t> </a:t>
            </a:r>
            <a:r>
              <a:rPr lang="en-GB" sz="2000" b="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https://github.com/Raviranjan02112006/Heathcare-Analytics-Doctor-Visits.git</a:t>
            </a:r>
            <a:endParaRPr lang="en-IN" b="0" u="sng" dirty="0">
              <a:solidFill>
                <a:schemeClr val="accent2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88FC3FB-16B8-7453-21E9-4A484C2884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57" y="1275371"/>
            <a:ext cx="5372576" cy="3551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477624-000D-ADC7-3237-09730B5A81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8270" y="1338140"/>
            <a:ext cx="4901520" cy="355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28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4237F-7DBF-1E12-EC25-6947C08DF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E5CC270-8AC0-FB04-BEFF-AA4911898E8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E884DD2-B1FC-4E7D-15C3-F6F453DA9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104" y="156901"/>
            <a:ext cx="3831875" cy="666079"/>
          </a:xfrm>
        </p:spPr>
        <p:txBody>
          <a:bodyPr>
            <a:normAutofit fontScale="90000"/>
          </a:bodyPr>
          <a:lstStyle/>
          <a:p>
            <a:r>
              <a:rPr lang="en-GB" sz="3600" dirty="0"/>
              <a:t>RESULTS</a:t>
            </a:r>
            <a:r>
              <a:rPr lang="en-GB" dirty="0"/>
              <a:t>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E92F007-B225-6EC7-83FB-5AAA489ED9B4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3BDD33C-0575-7363-1A9F-F6374823010B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EA82358-6647-60D5-B8F9-48ACA9827519}"/>
              </a:ext>
            </a:extLst>
          </p:cNvPr>
          <p:cNvSpPr txBox="1">
            <a:spLocks/>
          </p:cNvSpPr>
          <p:nvPr/>
        </p:nvSpPr>
        <p:spPr>
          <a:xfrm>
            <a:off x="675957" y="5732057"/>
            <a:ext cx="3603609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sz="2000" b="0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 Link</a:t>
            </a:r>
            <a:r>
              <a:rPr lang="en-GB" sz="2000" b="0" dirty="0">
                <a:solidFill>
                  <a:srgbClr val="0070C0"/>
                </a:solidFill>
              </a:rPr>
              <a:t>:-   </a:t>
            </a:r>
          </a:p>
          <a:p>
            <a:r>
              <a:rPr lang="en-GB" sz="2000" b="0" dirty="0">
                <a:solidFill>
                  <a:srgbClr val="0070C0"/>
                </a:solidFill>
              </a:rPr>
              <a:t> </a:t>
            </a:r>
            <a:r>
              <a:rPr lang="en-GB" sz="2000" b="0" u="sng" dirty="0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https://github.com/Raviranjan02112006/Heathcare-Analytics-Doctor-Visits.git</a:t>
            </a:r>
            <a:endParaRPr lang="en-IN" b="0" u="sng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18863-51A3-3ECA-02A2-1E1C423F7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957" y="860368"/>
            <a:ext cx="6952064" cy="47697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3C11026-F805-0ECC-416A-A890E9D494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996" y="720192"/>
            <a:ext cx="3888022" cy="476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67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19" y="296639"/>
            <a:ext cx="11340000" cy="1741273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pic>
        <p:nvPicPr>
          <p:cNvPr id="2" name="Picture 1" descr="How to Write a Genuine Thank You Note - Sugar and Spice">
            <a:extLst>
              <a:ext uri="{FF2B5EF4-FFF2-40B4-BE49-F238E27FC236}">
                <a16:creationId xmlns:a16="http://schemas.microsoft.com/office/drawing/2014/main" id="{11872739-5212-608D-0FF6-8407C3971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6863" y="2058310"/>
            <a:ext cx="7928874" cy="416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585</TotalTime>
  <Words>348</Words>
  <Application>Microsoft Office PowerPoint</Application>
  <PresentationFormat>Widescreen</PresentationFormat>
  <Paragraphs>51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Project Title – Healthcare Analysis for Doctor Visits TIRTC</vt:lpstr>
      <vt:lpstr>PROBLEM  STATEMENT</vt:lpstr>
      <vt:lpstr>Project Description [write detail description about your project ] 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Ravi Ranjan Kumar</cp:lastModifiedBy>
  <cp:revision>74</cp:revision>
  <dcterms:created xsi:type="dcterms:W3CDTF">2021-07-11T13:13:15Z</dcterms:created>
  <dcterms:modified xsi:type="dcterms:W3CDTF">2026-10-10T17:10:33Z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