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1" r:id="rId11"/>
    <p:sldId id="343" r:id="rId12"/>
    <p:sldId id="344" r:id="rId13"/>
    <p:sldId id="345"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87F008-CB16-4782-ACA2-714742733BD0}" v="2" dt="2026-10-10T17:13:51.728"/>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Ranjan Kumar" userId="fd4cebbeb0762073" providerId="LiveId" clId="{B155550E-0074-4467-8A91-E3E8B52EA08E}"/>
    <pc:docChg chg="modSld">
      <pc:chgData name="Ravi Ranjan Kumar" userId="fd4cebbeb0762073" providerId="LiveId" clId="{B155550E-0074-4467-8A91-E3E8B52EA08E}" dt="2026-10-10T17:14:00.373" v="9" actId="1076"/>
      <pc:docMkLst>
        <pc:docMk/>
      </pc:docMkLst>
      <pc:sldChg chg="addSp modSp mod">
        <pc:chgData name="Ravi Ranjan Kumar" userId="fd4cebbeb0762073" providerId="LiveId" clId="{B155550E-0074-4467-8A91-E3E8B52EA08E}" dt="2026-10-10T17:14:00.373" v="9" actId="1076"/>
        <pc:sldMkLst>
          <pc:docMk/>
          <pc:sldMk cId="3696770303" sldId="315"/>
        </pc:sldMkLst>
        <pc:spChg chg="mod">
          <ac:chgData name="Ravi Ranjan Kumar" userId="fd4cebbeb0762073" providerId="LiveId" clId="{B155550E-0074-4467-8A91-E3E8B52EA08E}" dt="2026-10-10T17:11:36.452" v="2" actId="255"/>
          <ac:spMkLst>
            <pc:docMk/>
            <pc:sldMk cId="3696770303" sldId="315"/>
            <ac:spMk id="3" creationId="{EBF2FBC7-3552-4F01-BB27-8BEEE74F7277}"/>
          </ac:spMkLst>
        </pc:spChg>
        <pc:spChg chg="add mod">
          <ac:chgData name="Ravi Ranjan Kumar" userId="fd4cebbeb0762073" providerId="LiveId" clId="{B155550E-0074-4467-8A91-E3E8B52EA08E}" dt="2026-10-10T17:14:00.373" v="9" actId="1076"/>
          <ac:spMkLst>
            <pc:docMk/>
            <pc:sldMk cId="3696770303" sldId="315"/>
            <ac:spMk id="4" creationId="{0532A6C9-00FC-F554-41D7-A6B0B7FFD64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github.com/Raviranjan02112006/Heathcare-Analytics-Doctor-Visits.git"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github.com/Raviranjan02112006/Heathcare-Analytics-Doctor-Visits.gi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7"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github.com/Raviranjan02112006/Heathcare-Analytics-Doctor-Visits.git"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github.com/Raviranjan02112006/Heathcare-Analytics-Doctor-Visits.git"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github.com/Raviranjan02112006/Heathcare-Analytics-Doctor-Visits.gi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143704" y="3224749"/>
            <a:ext cx="5718708" cy="1581649"/>
          </a:xfrm>
        </p:spPr>
        <p:txBody>
          <a:bodyPr>
            <a:normAutofit lnSpcReduction="10000"/>
          </a:bodyPr>
          <a:lstStyle/>
          <a:p>
            <a:pPr algn="r"/>
            <a:r>
              <a:rPr lang="en-US" dirty="0">
                <a:solidFill>
                  <a:schemeClr val="tx1"/>
                </a:solidFill>
              </a:rPr>
              <a:t>Student Name:- Ravi Ranjan Kumar</a:t>
            </a:r>
          </a:p>
          <a:p>
            <a:pPr algn="r"/>
            <a:r>
              <a:rPr lang="en-US" dirty="0">
                <a:solidFill>
                  <a:schemeClr val="tx1"/>
                </a:solidFill>
              </a:rPr>
              <a:t>   College – Cluster Innovation Centre,</a:t>
            </a:r>
          </a:p>
          <a:p>
            <a:pPr algn="r"/>
            <a:r>
              <a:rPr lang="en-US" dirty="0">
                <a:solidFill>
                  <a:schemeClr val="tx1"/>
                </a:solidFill>
              </a:rPr>
              <a:t> University of Delhi</a:t>
            </a:r>
          </a:p>
          <a:p>
            <a:pPr algn="r"/>
            <a:r>
              <a:rPr lang="en-US" dirty="0">
                <a:solidFill>
                  <a:schemeClr val="tx1"/>
                </a:solidFill>
              </a:rPr>
              <a:t>Student ID - </a:t>
            </a:r>
            <a:r>
              <a:rPr lang="en-IN" dirty="0"/>
              <a:t>STU6a5e48692fb9c1784563817 </a:t>
            </a:r>
            <a:r>
              <a:rPr lang="en-US" dirty="0">
                <a:solidFill>
                  <a:schemeClr val="tx1"/>
                </a:solidFill>
              </a:rPr>
              <a:t>  </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863692" y="630826"/>
            <a:ext cx="4998720" cy="743448"/>
          </a:xfrm>
        </p:spPr>
        <p:txBody>
          <a:bodyPr>
            <a:normAutofit fontScale="90000"/>
          </a:bodyPr>
          <a:lstStyle/>
          <a:p>
            <a:r>
              <a:rPr lang="en-GB" sz="3200" b="1" dirty="0"/>
              <a:t>Project Title – Healthcare Analysis for Doctor Visits TIRTC</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5" name="Picture 4" descr="Powerful Web Analytics For Healthcare Providers - Privacy Respected">
            <a:extLst>
              <a:ext uri="{FF2B5EF4-FFF2-40B4-BE49-F238E27FC236}">
                <a16:creationId xmlns:a16="http://schemas.microsoft.com/office/drawing/2014/main" id="{F95EA5C2-8C06-53FB-7A4A-C84624459BF6}"/>
              </a:ext>
            </a:extLst>
          </p:cNvPr>
          <p:cNvPicPr>
            <a:picLocks noChangeAspect="1"/>
          </p:cNvPicPr>
          <p:nvPr/>
        </p:nvPicPr>
        <p:blipFill>
          <a:blip r:embed="rId3"/>
          <a:stretch>
            <a:fillRect/>
          </a:stretch>
        </p:blipFill>
        <p:spPr>
          <a:xfrm>
            <a:off x="826168" y="2359762"/>
            <a:ext cx="3962400" cy="3244955"/>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564105"/>
            <a:ext cx="6995604" cy="4146883"/>
          </a:xfrm>
        </p:spPr>
        <p:txBody>
          <a:bodyPr>
            <a:normAutofit fontScale="85000" lnSpcReduction="20000"/>
          </a:bodyPr>
          <a:lstStyle/>
          <a:p>
            <a:pPr marL="0" indent="0">
              <a:buNone/>
            </a:pPr>
            <a:endParaRPr lang="en-IN" sz="2800" b="1" dirty="0"/>
          </a:p>
          <a:p>
            <a:pPr lvl="0"/>
            <a:r>
              <a:rPr lang="en-IN" sz="2800" dirty="0"/>
              <a:t>Analyse healthcare data to identify patterns in doctor visits.</a:t>
            </a:r>
          </a:p>
          <a:p>
            <a:pPr lvl="0"/>
            <a:r>
              <a:rPr lang="en-IN" sz="2800" dirty="0"/>
              <a:t>Examine the influence of demographic, socioeconomic, and health-related factors.</a:t>
            </a:r>
          </a:p>
          <a:p>
            <a:pPr lvl="0"/>
            <a:r>
              <a:rPr lang="en-IN" sz="2800" dirty="0"/>
              <a:t>Apply Exploratory Data Analysis (EDA) and data visualization.</a:t>
            </a:r>
          </a:p>
          <a:p>
            <a:pPr lvl="0"/>
            <a:r>
              <a:rPr lang="en-IN" sz="2800" dirty="0"/>
              <a:t>Predict doctor visits using Linear Regression and Random Forest.</a:t>
            </a:r>
          </a:p>
          <a:p>
            <a:pPr lvl="0"/>
            <a:r>
              <a:rPr lang="en-IN" sz="2800" dirty="0"/>
              <a:t>Compare model performance using MAE, RMSE, and R².</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267803"/>
            <a:ext cx="6276109" cy="830997"/>
          </a:xfrm>
        </p:spPr>
        <p:txBody>
          <a:bodyPr>
            <a:normAutofit fontScale="90000"/>
          </a:bodyPr>
          <a:lstStyle/>
          <a:p>
            <a:r>
              <a:rPr lang="en-GB" sz="3600"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532A6C9-00FC-F554-41D7-A6B0B7FFD644}"/>
              </a:ext>
            </a:extLst>
          </p:cNvPr>
          <p:cNvSpPr txBox="1"/>
          <p:nvPr/>
        </p:nvSpPr>
        <p:spPr>
          <a:xfrm>
            <a:off x="675957" y="1215474"/>
            <a:ext cx="8660732" cy="5078313"/>
          </a:xfrm>
          <a:prstGeom prst="rect">
            <a:avLst/>
          </a:prstGeom>
          <a:noFill/>
        </p:spPr>
        <p:txBody>
          <a:bodyPr wrap="square">
            <a:spAutoFit/>
          </a:bodyPr>
          <a:lstStyle/>
          <a:p>
            <a:pPr>
              <a:buNone/>
            </a:pPr>
            <a:r>
              <a:rPr lang="en-IN" dirty="0"/>
              <a:t>This project focuses on analysing healthcare data to identify patterns, trends, and relationships in doctor visits. It involves data cleaning, preprocessing, descriptive statistical analysis, and exploratory data analysis (EDA) to examine demographic, socioeconomic, and health-related factors associated with healthcare utilization. Various data visualization techniques, including histograms, box plots, scatter plots, and correlation heatmaps, are used to explore distributions, compare groups, detect patterns, and identify relationships among variables. The analysis aims to derive meaningful insights into healthcare utilization and support data-driven decision-making.</a:t>
            </a:r>
          </a:p>
          <a:p>
            <a:pPr>
              <a:buNone/>
            </a:pPr>
            <a:endParaRPr lang="en-IN" dirty="0"/>
          </a:p>
          <a:p>
            <a:r>
              <a:rPr lang="en-IN" dirty="0"/>
              <a:t>Linear Regression and Random Forest Regression are used to predict doctor visits, with model performance evaluated using MAE, RMSE, and R² score. Furthermore, Linear Regression and Random Forest Regression are implemented to predict the number of doctor visits. Model performance is evaluated using Mean Absolute Error (MAE), Root Mean Squared Error (RMSE), and R² score. The project aims to generate meaningful insights that can support healthcare analysis, resource planning, and data-driven decision-making.</a:t>
            </a:r>
          </a:p>
          <a:p>
            <a:pPr>
              <a:buNone/>
            </a:pP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36875" y="1679258"/>
            <a:ext cx="6593841" cy="3990023"/>
          </a:xfrm>
        </p:spPr>
        <p:txBody>
          <a:bodyPr>
            <a:normAutofit fontScale="47500" lnSpcReduction="20000"/>
          </a:bodyPr>
          <a:lstStyle/>
          <a:p>
            <a:pPr marL="0" indent="0">
              <a:buNone/>
            </a:pPr>
            <a:endParaRPr lang="en-IN" sz="3600" b="1" dirty="0"/>
          </a:p>
          <a:p>
            <a:pPr lvl="0"/>
            <a:r>
              <a:rPr lang="en-IN" sz="3600" dirty="0"/>
              <a:t>Healthcare Providers: To understand patient visit patterns and healthcare utilization.</a:t>
            </a:r>
          </a:p>
          <a:p>
            <a:pPr lvl="0"/>
            <a:r>
              <a:rPr lang="en-IN" sz="3600" dirty="0"/>
              <a:t>Hospital Administrators: To support resource allocation and service planning.</a:t>
            </a:r>
          </a:p>
          <a:p>
            <a:pPr lvl="0"/>
            <a:r>
              <a:rPr lang="en-IN" sz="3600" dirty="0"/>
              <a:t>Healthcare Analysts: To identify trends and relationships in healthcare data.</a:t>
            </a:r>
          </a:p>
          <a:p>
            <a:pPr lvl="0"/>
            <a:r>
              <a:rPr lang="en-IN" sz="3600" dirty="0"/>
              <a:t>Public Health Authorities: To support healthcare planning and policy development.</a:t>
            </a:r>
          </a:p>
          <a:p>
            <a:pPr lvl="0"/>
            <a:r>
              <a:rPr lang="en-IN" sz="3600" dirty="0"/>
              <a:t>Researchers and Academicians: To study healthcare utilization patterns using data analytics.</a:t>
            </a:r>
          </a:p>
          <a:p>
            <a:pPr lvl="0"/>
            <a:r>
              <a:rPr lang="en-IN" sz="3600" dirty="0"/>
              <a:t>Insurance Companies: To understand healthcare service utilization trends for planning and analysis.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pic>
        <p:nvPicPr>
          <p:cNvPr id="3" name="Picture 2" descr="Elevating Each Other: How Healthcare Professionals Collaborate Across Fields">
            <a:extLst>
              <a:ext uri="{FF2B5EF4-FFF2-40B4-BE49-F238E27FC236}">
                <a16:creationId xmlns:a16="http://schemas.microsoft.com/office/drawing/2014/main" id="{89B7966F-844D-84DA-FAE5-2C3B57624723}"/>
              </a:ext>
            </a:extLst>
          </p:cNvPr>
          <p:cNvPicPr>
            <a:picLocks noChangeAspect="1"/>
          </p:cNvPicPr>
          <p:nvPr/>
        </p:nvPicPr>
        <p:blipFill>
          <a:blip r:embed="rId3"/>
          <a:stretch>
            <a:fillRect/>
          </a:stretch>
        </p:blipFill>
        <p:spPr>
          <a:xfrm>
            <a:off x="7206914" y="2021305"/>
            <a:ext cx="4389522" cy="3064042"/>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400" y="1498332"/>
            <a:ext cx="6863348" cy="4108384"/>
          </a:xfrm>
        </p:spPr>
        <p:txBody>
          <a:bodyPr>
            <a:normAutofit fontScale="70000" lnSpcReduction="20000"/>
          </a:bodyPr>
          <a:lstStyle/>
          <a:p>
            <a:r>
              <a:rPr lang="en-IN" b="1" dirty="0"/>
              <a:t>Python </a:t>
            </a:r>
            <a:r>
              <a:rPr lang="en-IN" dirty="0"/>
              <a:t>– Core programming language for data analysis and prediction.</a:t>
            </a:r>
          </a:p>
          <a:p>
            <a:pPr lvl="0"/>
            <a:r>
              <a:rPr lang="en-IN" b="1" dirty="0"/>
              <a:t>Google </a:t>
            </a:r>
            <a:r>
              <a:rPr lang="en-IN" b="1" dirty="0" err="1"/>
              <a:t>Colab</a:t>
            </a:r>
            <a:r>
              <a:rPr lang="en-IN" b="1" dirty="0"/>
              <a:t> </a:t>
            </a:r>
            <a:r>
              <a:rPr lang="en-IN" dirty="0"/>
              <a:t>– Cloud-based environment for executing Python code.</a:t>
            </a:r>
          </a:p>
          <a:p>
            <a:pPr lvl="0"/>
            <a:r>
              <a:rPr lang="en-IN" b="1" dirty="0"/>
              <a:t>Pandas </a:t>
            </a:r>
            <a:r>
              <a:rPr lang="en-IN" dirty="0"/>
              <a:t>– Data manipulation and cleaning.</a:t>
            </a:r>
          </a:p>
          <a:p>
            <a:pPr lvl="0"/>
            <a:r>
              <a:rPr lang="en-IN" b="1" dirty="0"/>
              <a:t>NumPy</a:t>
            </a:r>
            <a:r>
              <a:rPr lang="en-IN" dirty="0"/>
              <a:t> – Numerical computations.</a:t>
            </a:r>
          </a:p>
          <a:p>
            <a:pPr lvl="0"/>
            <a:r>
              <a:rPr lang="en-IN" b="1" dirty="0"/>
              <a:t>Matplotlib </a:t>
            </a:r>
            <a:r>
              <a:rPr lang="en-IN" dirty="0"/>
              <a:t>– Data visualization.</a:t>
            </a:r>
          </a:p>
          <a:p>
            <a:pPr lvl="0"/>
            <a:r>
              <a:rPr lang="en-IN" b="1" dirty="0"/>
              <a:t>Seaborn</a:t>
            </a:r>
            <a:r>
              <a:rPr lang="en-IN" dirty="0"/>
              <a:t> – Statistical analysis and visualization.</a:t>
            </a:r>
          </a:p>
          <a:p>
            <a:pPr lvl="0"/>
            <a:r>
              <a:rPr lang="en-IN" b="1" dirty="0"/>
              <a:t>Scikit-learn </a:t>
            </a:r>
            <a:r>
              <a:rPr lang="en-IN" dirty="0"/>
              <a:t>– Machine learning and model evaluation.</a:t>
            </a:r>
          </a:p>
          <a:p>
            <a:pPr lvl="0"/>
            <a:r>
              <a:rPr lang="en-IN" b="1" dirty="0"/>
              <a:t>Linear Regression </a:t>
            </a:r>
            <a:r>
              <a:rPr lang="en-IN" dirty="0"/>
              <a:t>– Predicting the number of doctor visits.</a:t>
            </a:r>
          </a:p>
          <a:p>
            <a:pPr lvl="0"/>
            <a:r>
              <a:rPr lang="en-IN" b="1" dirty="0"/>
              <a:t>Random Forest Regression </a:t>
            </a:r>
            <a:r>
              <a:rPr lang="en-IN" dirty="0"/>
              <a:t>– Modelling complex patterns in healthcare data.</a:t>
            </a:r>
          </a:p>
          <a:p>
            <a:pPr lvl="0"/>
            <a:r>
              <a:rPr lang="en-IN" b="1" dirty="0"/>
              <a:t>CSV</a:t>
            </a:r>
            <a:r>
              <a:rPr lang="en-IN" dirty="0"/>
              <a:t> – Healthcare dataset storage and export format.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pic>
        <p:nvPicPr>
          <p:cNvPr id="3" name="Picture 2" descr="Top 7 Python Libraries Used For Data Science in 2026">
            <a:extLst>
              <a:ext uri="{FF2B5EF4-FFF2-40B4-BE49-F238E27FC236}">
                <a16:creationId xmlns:a16="http://schemas.microsoft.com/office/drawing/2014/main" id="{95EE19C4-82F8-658D-B21A-406965EAC815}"/>
              </a:ext>
            </a:extLst>
          </p:cNvPr>
          <p:cNvPicPr>
            <a:picLocks noChangeAspect="1"/>
          </p:cNvPicPr>
          <p:nvPr/>
        </p:nvPicPr>
        <p:blipFill>
          <a:blip r:embed="rId4"/>
          <a:stretch>
            <a:fillRect/>
          </a:stretch>
        </p:blipFill>
        <p:spPr>
          <a:xfrm>
            <a:off x="7430530" y="1251284"/>
            <a:ext cx="4646140" cy="4345930"/>
          </a:xfrm>
          <a:prstGeom prst="rect">
            <a:avLst/>
          </a:prstGeom>
        </p:spPr>
      </p:pic>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675957" y="5732057"/>
            <a:ext cx="3603609" cy="830997"/>
          </a:xfrm>
          <a:prstGeom prst="rect">
            <a:avLst/>
          </a:prstGeom>
        </p:spPr>
        <p:txBody>
          <a:bodyPr vert="horz" lIns="91440" tIns="45720" rIns="91440" bIns="45720" rtlCol="0" anchor="t">
            <a:normAutofit fontScale="7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0"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a:t>
            </a:r>
          </a:p>
          <a:p>
            <a:r>
              <a:rPr lang="en-GB" sz="2000" b="0" dirty="0">
                <a:solidFill>
                  <a:srgbClr val="0070C0"/>
                </a:solidFill>
              </a:rPr>
              <a:t> </a:t>
            </a:r>
            <a:r>
              <a:rPr lang="en-GB" sz="2000" b="0" u="sng" dirty="0">
                <a:solidFill>
                  <a:schemeClr val="accent2"/>
                </a:solidFill>
                <a:hlinkClick r:id="rId4">
                  <a:extLst>
                    <a:ext uri="{A12FA001-AC4F-418D-AE19-62706E023703}">
                      <ahyp:hlinkClr xmlns:ahyp="http://schemas.microsoft.com/office/drawing/2018/hyperlinkcolor" val="tx"/>
                    </a:ext>
                  </a:extLst>
                </a:hlinkClick>
              </a:rPr>
              <a:t>https://github.com/Raviranjan02112006/Heathcare-Analytics-Doctor-Visits.git</a:t>
            </a:r>
            <a:endParaRPr lang="en-IN" b="0" u="sng" dirty="0">
              <a:solidFill>
                <a:schemeClr val="accent2"/>
              </a:solidFill>
            </a:endParaRPr>
          </a:p>
        </p:txBody>
      </p:sp>
      <p:pic>
        <p:nvPicPr>
          <p:cNvPr id="11" name="Picture 10">
            <a:extLst>
              <a:ext uri="{FF2B5EF4-FFF2-40B4-BE49-F238E27FC236}">
                <a16:creationId xmlns:a16="http://schemas.microsoft.com/office/drawing/2014/main" id="{857F5632-568B-064B-B119-229A7560D43E}"/>
              </a:ext>
            </a:extLst>
          </p:cNvPr>
          <p:cNvPicPr>
            <a:picLocks noChangeAspect="1"/>
          </p:cNvPicPr>
          <p:nvPr/>
        </p:nvPicPr>
        <p:blipFill>
          <a:blip r:embed="rId5"/>
          <a:stretch>
            <a:fillRect/>
          </a:stretch>
        </p:blipFill>
        <p:spPr>
          <a:xfrm>
            <a:off x="804294" y="1363603"/>
            <a:ext cx="2724968" cy="2238729"/>
          </a:xfrm>
          <a:prstGeom prst="rect">
            <a:avLst/>
          </a:prstGeom>
        </p:spPr>
      </p:pic>
      <p:pic>
        <p:nvPicPr>
          <p:cNvPr id="13" name="Picture 12">
            <a:extLst>
              <a:ext uri="{FF2B5EF4-FFF2-40B4-BE49-F238E27FC236}">
                <a16:creationId xmlns:a16="http://schemas.microsoft.com/office/drawing/2014/main" id="{D814FC63-DD57-64CE-2D09-F6DE11F82DC1}"/>
              </a:ext>
            </a:extLst>
          </p:cNvPr>
          <p:cNvPicPr>
            <a:picLocks noChangeAspect="1"/>
          </p:cNvPicPr>
          <p:nvPr/>
        </p:nvPicPr>
        <p:blipFill>
          <a:blip r:embed="rId6"/>
          <a:stretch>
            <a:fillRect/>
          </a:stretch>
        </p:blipFill>
        <p:spPr>
          <a:xfrm>
            <a:off x="3817070" y="1420879"/>
            <a:ext cx="5543120" cy="2124175"/>
          </a:xfrm>
          <a:prstGeom prst="rect">
            <a:avLst/>
          </a:prstGeom>
        </p:spPr>
      </p:pic>
      <p:pic>
        <p:nvPicPr>
          <p:cNvPr id="18" name="Picture 17">
            <a:extLst>
              <a:ext uri="{FF2B5EF4-FFF2-40B4-BE49-F238E27FC236}">
                <a16:creationId xmlns:a16="http://schemas.microsoft.com/office/drawing/2014/main" id="{EC5E1FA2-4F19-AD9C-F706-4B730D904AE6}"/>
              </a:ext>
            </a:extLst>
          </p:cNvPr>
          <p:cNvPicPr>
            <a:picLocks noChangeAspect="1"/>
          </p:cNvPicPr>
          <p:nvPr/>
        </p:nvPicPr>
        <p:blipFill>
          <a:blip r:embed="rId7"/>
          <a:stretch>
            <a:fillRect/>
          </a:stretch>
        </p:blipFill>
        <p:spPr>
          <a:xfrm>
            <a:off x="3780416" y="3928230"/>
            <a:ext cx="5616427" cy="150889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AD8DB-67C1-0B1A-9067-463A64E2CED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40172F-3A3C-0AEB-4B0F-1D0D2477F5E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A4E451A-CDF1-2CC1-43BD-690074D1D78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1590FBA-A959-A91C-1DEE-ED042095B91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337390D-FB29-DA56-E92E-ED84FAF9B3C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D52A2633-79D7-0863-3057-4A9ED89D0BB7}"/>
              </a:ext>
            </a:extLst>
          </p:cNvPr>
          <p:cNvSpPr txBox="1">
            <a:spLocks/>
          </p:cNvSpPr>
          <p:nvPr/>
        </p:nvSpPr>
        <p:spPr>
          <a:xfrm>
            <a:off x="675957" y="5732057"/>
            <a:ext cx="3603609" cy="830997"/>
          </a:xfrm>
          <a:prstGeom prst="rect">
            <a:avLst/>
          </a:prstGeom>
        </p:spPr>
        <p:txBody>
          <a:bodyPr vert="horz" lIns="91440" tIns="45720" rIns="91440" bIns="45720" rtlCol="0" anchor="t">
            <a:normAutofit fontScale="7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0"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a:t>
            </a:r>
          </a:p>
          <a:p>
            <a:r>
              <a:rPr lang="en-GB" sz="2000" b="0" dirty="0">
                <a:solidFill>
                  <a:srgbClr val="0070C0"/>
                </a:solidFill>
              </a:rPr>
              <a:t> </a:t>
            </a:r>
            <a:r>
              <a:rPr lang="en-GB" sz="2000" b="0" u="sng" dirty="0">
                <a:solidFill>
                  <a:schemeClr val="accent2"/>
                </a:solidFill>
                <a:hlinkClick r:id="rId4">
                  <a:extLst>
                    <a:ext uri="{A12FA001-AC4F-418D-AE19-62706E023703}">
                      <ahyp:hlinkClr xmlns:ahyp="http://schemas.microsoft.com/office/drawing/2018/hyperlinkcolor" val="tx"/>
                    </a:ext>
                  </a:extLst>
                </a:hlinkClick>
              </a:rPr>
              <a:t>https://github.com/Raviranjan02112006/Heathcare-Analytics-Doctor-Visits.git</a:t>
            </a:r>
            <a:endParaRPr lang="en-IN" b="0" u="sng" dirty="0">
              <a:solidFill>
                <a:schemeClr val="accent2"/>
              </a:solidFill>
            </a:endParaRPr>
          </a:p>
        </p:txBody>
      </p:sp>
      <p:pic>
        <p:nvPicPr>
          <p:cNvPr id="2" name="Picture 1">
            <a:extLst>
              <a:ext uri="{FF2B5EF4-FFF2-40B4-BE49-F238E27FC236}">
                <a16:creationId xmlns:a16="http://schemas.microsoft.com/office/drawing/2014/main" id="{15514F38-9D2F-8BFC-5BFB-8DF90C780447}"/>
              </a:ext>
            </a:extLst>
          </p:cNvPr>
          <p:cNvPicPr>
            <a:picLocks noChangeAspect="1"/>
          </p:cNvPicPr>
          <p:nvPr/>
        </p:nvPicPr>
        <p:blipFill>
          <a:blip r:embed="rId5"/>
          <a:stretch>
            <a:fillRect/>
          </a:stretch>
        </p:blipFill>
        <p:spPr>
          <a:xfrm>
            <a:off x="612240" y="1344608"/>
            <a:ext cx="4777907" cy="3571944"/>
          </a:xfrm>
          <a:prstGeom prst="rect">
            <a:avLst/>
          </a:prstGeom>
        </p:spPr>
      </p:pic>
      <p:pic>
        <p:nvPicPr>
          <p:cNvPr id="3" name="Picture 2">
            <a:extLst>
              <a:ext uri="{FF2B5EF4-FFF2-40B4-BE49-F238E27FC236}">
                <a16:creationId xmlns:a16="http://schemas.microsoft.com/office/drawing/2014/main" id="{6ADC0436-771E-142F-B0D8-0ACF8E0B834F}"/>
              </a:ext>
            </a:extLst>
          </p:cNvPr>
          <p:cNvPicPr>
            <a:picLocks noChangeAspect="1"/>
          </p:cNvPicPr>
          <p:nvPr/>
        </p:nvPicPr>
        <p:blipFill>
          <a:blip r:embed="rId6"/>
          <a:stretch>
            <a:fillRect/>
          </a:stretch>
        </p:blipFill>
        <p:spPr>
          <a:xfrm>
            <a:off x="6296815" y="1442466"/>
            <a:ext cx="5282945" cy="3376227"/>
          </a:xfrm>
          <a:prstGeom prst="rect">
            <a:avLst/>
          </a:prstGeom>
        </p:spPr>
      </p:pic>
    </p:spTree>
    <p:extLst>
      <p:ext uri="{BB962C8B-B14F-4D97-AF65-F5344CB8AC3E}">
        <p14:creationId xmlns:p14="http://schemas.microsoft.com/office/powerpoint/2010/main" val="403547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9C78-39A8-1A88-799E-22592D48AE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3E7793A-6CA6-5B52-C896-03A86DFBC3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CE125DF-9811-5758-3FF6-585177573BC0}"/>
              </a:ext>
            </a:extLst>
          </p:cNvPr>
          <p:cNvSpPr>
            <a:spLocks noGrp="1"/>
          </p:cNvSpPr>
          <p:nvPr>
            <p:ph type="title"/>
          </p:nvPr>
        </p:nvSpPr>
        <p:spPr>
          <a:xfrm>
            <a:off x="675957" y="370589"/>
            <a:ext cx="3831875" cy="666079"/>
          </a:xfrm>
        </p:spPr>
        <p:txBody>
          <a:bodyPr>
            <a:normAutofit fontScale="90000"/>
          </a:bodyPr>
          <a:lstStyle/>
          <a:p>
            <a:r>
              <a:rPr lang="en-GB" sz="3600" dirty="0"/>
              <a:t>RESULTS</a:t>
            </a:r>
            <a:r>
              <a:rPr lang="en-GB" dirty="0"/>
              <a:t> </a:t>
            </a:r>
            <a:endParaRPr lang="en-IN" dirty="0"/>
          </a:p>
        </p:txBody>
      </p:sp>
      <p:sp>
        <p:nvSpPr>
          <p:cNvPr id="7" name="Text Placeholder 30">
            <a:extLst>
              <a:ext uri="{FF2B5EF4-FFF2-40B4-BE49-F238E27FC236}">
                <a16:creationId xmlns:a16="http://schemas.microsoft.com/office/drawing/2014/main" id="{8513C3F1-56E6-FD25-1844-715D9513F90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5C17C96-963B-87E7-8CD8-8DF382469ED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6B09BF8-0FC1-FCFE-E3FE-EA40CBE8ECE2}"/>
              </a:ext>
            </a:extLst>
          </p:cNvPr>
          <p:cNvSpPr txBox="1">
            <a:spLocks/>
          </p:cNvSpPr>
          <p:nvPr/>
        </p:nvSpPr>
        <p:spPr>
          <a:xfrm>
            <a:off x="675957" y="5732057"/>
            <a:ext cx="3603609" cy="830997"/>
          </a:xfrm>
          <a:prstGeom prst="rect">
            <a:avLst/>
          </a:prstGeom>
        </p:spPr>
        <p:txBody>
          <a:bodyPr vert="horz" lIns="91440" tIns="45720" rIns="91440" bIns="45720" rtlCol="0" anchor="t">
            <a:normAutofit fontScale="7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0"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a:t>
            </a:r>
          </a:p>
          <a:p>
            <a:r>
              <a:rPr lang="en-GB" sz="2000" b="0" dirty="0">
                <a:solidFill>
                  <a:srgbClr val="0070C0"/>
                </a:solidFill>
              </a:rPr>
              <a:t> </a:t>
            </a:r>
            <a:r>
              <a:rPr lang="en-GB" sz="2000" b="0" u="sng" dirty="0">
                <a:solidFill>
                  <a:schemeClr val="accent2"/>
                </a:solidFill>
                <a:hlinkClick r:id="rId4">
                  <a:extLst>
                    <a:ext uri="{A12FA001-AC4F-418D-AE19-62706E023703}">
                      <ahyp:hlinkClr xmlns:ahyp="http://schemas.microsoft.com/office/drawing/2018/hyperlinkcolor" val="tx"/>
                    </a:ext>
                  </a:extLst>
                </a:hlinkClick>
              </a:rPr>
              <a:t>https://github.com/Raviranjan02112006/Heathcare-Analytics-Doctor-Visits.git</a:t>
            </a:r>
            <a:endParaRPr lang="en-IN" b="0" u="sng" dirty="0">
              <a:solidFill>
                <a:schemeClr val="accent2"/>
              </a:solidFill>
            </a:endParaRPr>
          </a:p>
        </p:txBody>
      </p:sp>
      <p:pic>
        <p:nvPicPr>
          <p:cNvPr id="6" name="Picture 5">
            <a:extLst>
              <a:ext uri="{FF2B5EF4-FFF2-40B4-BE49-F238E27FC236}">
                <a16:creationId xmlns:a16="http://schemas.microsoft.com/office/drawing/2014/main" id="{0893893F-9F3C-D105-F586-88DB60A3ADFE}"/>
              </a:ext>
            </a:extLst>
          </p:cNvPr>
          <p:cNvPicPr>
            <a:picLocks noChangeAspect="1"/>
          </p:cNvPicPr>
          <p:nvPr/>
        </p:nvPicPr>
        <p:blipFill>
          <a:blip r:embed="rId5"/>
          <a:stretch>
            <a:fillRect/>
          </a:stretch>
        </p:blipFill>
        <p:spPr>
          <a:xfrm>
            <a:off x="675957" y="1152624"/>
            <a:ext cx="3603609" cy="2785713"/>
          </a:xfrm>
          <a:prstGeom prst="rect">
            <a:avLst/>
          </a:prstGeom>
        </p:spPr>
      </p:pic>
      <p:pic>
        <p:nvPicPr>
          <p:cNvPr id="10" name="Picture 9">
            <a:extLst>
              <a:ext uri="{FF2B5EF4-FFF2-40B4-BE49-F238E27FC236}">
                <a16:creationId xmlns:a16="http://schemas.microsoft.com/office/drawing/2014/main" id="{45813910-E6A3-4146-D0CF-95D3B201AE54}"/>
              </a:ext>
            </a:extLst>
          </p:cNvPr>
          <p:cNvPicPr>
            <a:picLocks noChangeAspect="1"/>
          </p:cNvPicPr>
          <p:nvPr/>
        </p:nvPicPr>
        <p:blipFill>
          <a:blip r:embed="rId6"/>
          <a:stretch>
            <a:fillRect/>
          </a:stretch>
        </p:blipFill>
        <p:spPr>
          <a:xfrm>
            <a:off x="7912436" y="831966"/>
            <a:ext cx="3448609" cy="2858120"/>
          </a:xfrm>
          <a:prstGeom prst="rect">
            <a:avLst/>
          </a:prstGeom>
        </p:spPr>
      </p:pic>
      <p:pic>
        <p:nvPicPr>
          <p:cNvPr id="11" name="Picture 10">
            <a:extLst>
              <a:ext uri="{FF2B5EF4-FFF2-40B4-BE49-F238E27FC236}">
                <a16:creationId xmlns:a16="http://schemas.microsoft.com/office/drawing/2014/main" id="{41204334-5A6E-B317-2E6C-2D5920606468}"/>
              </a:ext>
            </a:extLst>
          </p:cNvPr>
          <p:cNvPicPr>
            <a:picLocks noChangeAspect="1"/>
          </p:cNvPicPr>
          <p:nvPr/>
        </p:nvPicPr>
        <p:blipFill>
          <a:blip r:embed="rId7"/>
          <a:stretch>
            <a:fillRect/>
          </a:stretch>
        </p:blipFill>
        <p:spPr>
          <a:xfrm>
            <a:off x="4641103" y="2775724"/>
            <a:ext cx="2909796" cy="2701143"/>
          </a:xfrm>
          <a:prstGeom prst="rect">
            <a:avLst/>
          </a:prstGeom>
        </p:spPr>
      </p:pic>
    </p:spTree>
    <p:extLst>
      <p:ext uri="{BB962C8B-B14F-4D97-AF65-F5344CB8AC3E}">
        <p14:creationId xmlns:p14="http://schemas.microsoft.com/office/powerpoint/2010/main" val="420718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C49DF-EB4A-C10F-436F-6E647E1209B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2AA2E5E-DC52-FBA2-ABB7-7D2D012A10F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A7D5C30-094C-92A8-ED89-B6D6385CDB01}"/>
              </a:ext>
            </a:extLst>
          </p:cNvPr>
          <p:cNvSpPr>
            <a:spLocks noGrp="1"/>
          </p:cNvSpPr>
          <p:nvPr>
            <p:ph type="title"/>
          </p:nvPr>
        </p:nvSpPr>
        <p:spPr>
          <a:xfrm>
            <a:off x="675957" y="370589"/>
            <a:ext cx="3831875" cy="666079"/>
          </a:xfrm>
        </p:spPr>
        <p:txBody>
          <a:bodyPr>
            <a:normAutofit fontScale="90000"/>
          </a:bodyPr>
          <a:lstStyle/>
          <a:p>
            <a:r>
              <a:rPr lang="en-GB" sz="3600" dirty="0"/>
              <a:t>RESULTS</a:t>
            </a:r>
            <a:r>
              <a:rPr lang="en-GB" dirty="0"/>
              <a:t> </a:t>
            </a:r>
            <a:endParaRPr lang="en-IN" dirty="0"/>
          </a:p>
        </p:txBody>
      </p:sp>
      <p:sp>
        <p:nvSpPr>
          <p:cNvPr id="7" name="Text Placeholder 30">
            <a:extLst>
              <a:ext uri="{FF2B5EF4-FFF2-40B4-BE49-F238E27FC236}">
                <a16:creationId xmlns:a16="http://schemas.microsoft.com/office/drawing/2014/main" id="{6A5B25FC-5F13-C7EF-3F7B-0312F778338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13C5C50-6E65-C6DD-479B-186D11F7A5F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8976D83-E4A8-EBA0-A9AF-BE650B3D1F1D}"/>
              </a:ext>
            </a:extLst>
          </p:cNvPr>
          <p:cNvSpPr txBox="1">
            <a:spLocks/>
          </p:cNvSpPr>
          <p:nvPr/>
        </p:nvSpPr>
        <p:spPr>
          <a:xfrm>
            <a:off x="675957" y="5732057"/>
            <a:ext cx="3603609" cy="830997"/>
          </a:xfrm>
          <a:prstGeom prst="rect">
            <a:avLst/>
          </a:prstGeom>
        </p:spPr>
        <p:txBody>
          <a:bodyPr vert="horz" lIns="91440" tIns="45720" rIns="91440" bIns="45720" rtlCol="0" anchor="t">
            <a:normAutofit fontScale="7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0"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a:t>
            </a:r>
          </a:p>
          <a:p>
            <a:r>
              <a:rPr lang="en-GB" sz="2000" b="0" dirty="0">
                <a:solidFill>
                  <a:srgbClr val="0070C0"/>
                </a:solidFill>
              </a:rPr>
              <a:t> </a:t>
            </a:r>
            <a:r>
              <a:rPr lang="en-GB" sz="2000" b="0" u="sng" dirty="0">
                <a:solidFill>
                  <a:schemeClr val="accent2"/>
                </a:solidFill>
                <a:hlinkClick r:id="rId4">
                  <a:extLst>
                    <a:ext uri="{A12FA001-AC4F-418D-AE19-62706E023703}">
                      <ahyp:hlinkClr xmlns:ahyp="http://schemas.microsoft.com/office/drawing/2018/hyperlinkcolor" val="tx"/>
                    </a:ext>
                  </a:extLst>
                </a:hlinkClick>
              </a:rPr>
              <a:t>https://github.com/Raviranjan02112006/Heathcare-Analytics-Doctor-Visits.git</a:t>
            </a:r>
            <a:endParaRPr lang="en-IN" b="0" u="sng" dirty="0">
              <a:solidFill>
                <a:schemeClr val="accent2"/>
              </a:solidFill>
            </a:endParaRPr>
          </a:p>
        </p:txBody>
      </p:sp>
      <p:pic>
        <p:nvPicPr>
          <p:cNvPr id="2" name="Picture 1">
            <a:extLst>
              <a:ext uri="{FF2B5EF4-FFF2-40B4-BE49-F238E27FC236}">
                <a16:creationId xmlns:a16="http://schemas.microsoft.com/office/drawing/2014/main" id="{688FC3FB-16B8-7453-21E9-4A484C288408}"/>
              </a:ext>
            </a:extLst>
          </p:cNvPr>
          <p:cNvPicPr>
            <a:picLocks noChangeAspect="1"/>
          </p:cNvPicPr>
          <p:nvPr/>
        </p:nvPicPr>
        <p:blipFill>
          <a:blip r:embed="rId5"/>
          <a:stretch>
            <a:fillRect/>
          </a:stretch>
        </p:blipFill>
        <p:spPr>
          <a:xfrm>
            <a:off x="675957" y="1275371"/>
            <a:ext cx="5372576" cy="3551905"/>
          </a:xfrm>
          <a:prstGeom prst="rect">
            <a:avLst/>
          </a:prstGeom>
        </p:spPr>
      </p:pic>
      <p:pic>
        <p:nvPicPr>
          <p:cNvPr id="3" name="Picture 2">
            <a:extLst>
              <a:ext uri="{FF2B5EF4-FFF2-40B4-BE49-F238E27FC236}">
                <a16:creationId xmlns:a16="http://schemas.microsoft.com/office/drawing/2014/main" id="{5D477624-000D-ADC7-3237-09730B5A812D}"/>
              </a:ext>
            </a:extLst>
          </p:cNvPr>
          <p:cNvPicPr>
            <a:picLocks noChangeAspect="1"/>
          </p:cNvPicPr>
          <p:nvPr/>
        </p:nvPicPr>
        <p:blipFill>
          <a:blip r:embed="rId6"/>
          <a:stretch>
            <a:fillRect/>
          </a:stretch>
        </p:blipFill>
        <p:spPr>
          <a:xfrm>
            <a:off x="6518270" y="1338140"/>
            <a:ext cx="4901520" cy="3551905"/>
          </a:xfrm>
          <a:prstGeom prst="rect">
            <a:avLst/>
          </a:prstGeom>
        </p:spPr>
      </p:pic>
    </p:spTree>
    <p:extLst>
      <p:ext uri="{BB962C8B-B14F-4D97-AF65-F5344CB8AC3E}">
        <p14:creationId xmlns:p14="http://schemas.microsoft.com/office/powerpoint/2010/main" val="378792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4237F-7DBF-1E12-EC25-6947C08DF58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E5CC270-8AC0-FB04-BEFF-AA4911898E8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E884DD2-B1FC-4E7D-15C3-F6F453DA9F0F}"/>
              </a:ext>
            </a:extLst>
          </p:cNvPr>
          <p:cNvSpPr>
            <a:spLocks noGrp="1"/>
          </p:cNvSpPr>
          <p:nvPr>
            <p:ph type="title"/>
          </p:nvPr>
        </p:nvSpPr>
        <p:spPr>
          <a:xfrm>
            <a:off x="732104" y="156901"/>
            <a:ext cx="3831875" cy="666079"/>
          </a:xfrm>
        </p:spPr>
        <p:txBody>
          <a:bodyPr>
            <a:normAutofit fontScale="90000"/>
          </a:bodyPr>
          <a:lstStyle/>
          <a:p>
            <a:r>
              <a:rPr lang="en-GB" sz="3600" dirty="0"/>
              <a:t>RESULTS</a:t>
            </a:r>
            <a:r>
              <a:rPr lang="en-GB" dirty="0"/>
              <a:t> </a:t>
            </a:r>
            <a:endParaRPr lang="en-IN" dirty="0"/>
          </a:p>
        </p:txBody>
      </p:sp>
      <p:sp>
        <p:nvSpPr>
          <p:cNvPr id="7" name="Text Placeholder 30">
            <a:extLst>
              <a:ext uri="{FF2B5EF4-FFF2-40B4-BE49-F238E27FC236}">
                <a16:creationId xmlns:a16="http://schemas.microsoft.com/office/drawing/2014/main" id="{CE92F007-B225-6EC7-83FB-5AAA489ED9B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3BDD33C-0575-7363-1A9F-F6374823010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EA82358-6647-60D5-B8F9-48ACA9827519}"/>
              </a:ext>
            </a:extLst>
          </p:cNvPr>
          <p:cNvSpPr txBox="1">
            <a:spLocks/>
          </p:cNvSpPr>
          <p:nvPr/>
        </p:nvSpPr>
        <p:spPr>
          <a:xfrm>
            <a:off x="675957" y="5732057"/>
            <a:ext cx="3603609" cy="830997"/>
          </a:xfrm>
          <a:prstGeom prst="rect">
            <a:avLst/>
          </a:prstGeom>
        </p:spPr>
        <p:txBody>
          <a:bodyPr vert="horz" lIns="91440" tIns="45720" rIns="91440" bIns="45720" rtlCol="0" anchor="t">
            <a:normAutofit fontScale="7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0"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a:t>
            </a:r>
          </a:p>
          <a:p>
            <a:r>
              <a:rPr lang="en-GB" sz="2000" b="0" dirty="0">
                <a:solidFill>
                  <a:srgbClr val="0070C0"/>
                </a:solidFill>
              </a:rPr>
              <a:t> </a:t>
            </a:r>
            <a:r>
              <a:rPr lang="en-GB" sz="2000" b="0" u="sng" dirty="0">
                <a:solidFill>
                  <a:schemeClr val="accent2"/>
                </a:solidFill>
                <a:hlinkClick r:id="rId4">
                  <a:extLst>
                    <a:ext uri="{A12FA001-AC4F-418D-AE19-62706E023703}">
                      <ahyp:hlinkClr xmlns:ahyp="http://schemas.microsoft.com/office/drawing/2018/hyperlinkcolor" val="tx"/>
                    </a:ext>
                  </a:extLst>
                </a:hlinkClick>
              </a:rPr>
              <a:t>https://github.com/Raviranjan02112006/Heathcare-Analytics-Doctor-Visits.git</a:t>
            </a:r>
            <a:endParaRPr lang="en-IN" b="0" u="sng" dirty="0">
              <a:solidFill>
                <a:schemeClr val="accent2"/>
              </a:solidFill>
            </a:endParaRPr>
          </a:p>
        </p:txBody>
      </p:sp>
      <p:pic>
        <p:nvPicPr>
          <p:cNvPr id="6" name="Picture 5">
            <a:extLst>
              <a:ext uri="{FF2B5EF4-FFF2-40B4-BE49-F238E27FC236}">
                <a16:creationId xmlns:a16="http://schemas.microsoft.com/office/drawing/2014/main" id="{A8118863-51A3-3ECA-02A2-1E1C423F78B5}"/>
              </a:ext>
            </a:extLst>
          </p:cNvPr>
          <p:cNvPicPr>
            <a:picLocks noChangeAspect="1"/>
          </p:cNvPicPr>
          <p:nvPr/>
        </p:nvPicPr>
        <p:blipFill>
          <a:blip r:embed="rId5"/>
          <a:stretch>
            <a:fillRect/>
          </a:stretch>
        </p:blipFill>
        <p:spPr>
          <a:xfrm>
            <a:off x="675957" y="860368"/>
            <a:ext cx="6952064" cy="4769783"/>
          </a:xfrm>
          <a:prstGeom prst="rect">
            <a:avLst/>
          </a:prstGeom>
        </p:spPr>
      </p:pic>
      <p:pic>
        <p:nvPicPr>
          <p:cNvPr id="10" name="Picture 9">
            <a:extLst>
              <a:ext uri="{FF2B5EF4-FFF2-40B4-BE49-F238E27FC236}">
                <a16:creationId xmlns:a16="http://schemas.microsoft.com/office/drawing/2014/main" id="{F3C11026-F805-0ECC-416A-A890E9D494D9}"/>
              </a:ext>
            </a:extLst>
          </p:cNvPr>
          <p:cNvPicPr>
            <a:picLocks noChangeAspect="1"/>
          </p:cNvPicPr>
          <p:nvPr/>
        </p:nvPicPr>
        <p:blipFill>
          <a:blip r:embed="rId6"/>
          <a:stretch>
            <a:fillRect/>
          </a:stretch>
        </p:blipFill>
        <p:spPr>
          <a:xfrm>
            <a:off x="7982996" y="720192"/>
            <a:ext cx="3888022" cy="4769783"/>
          </a:xfrm>
          <a:prstGeom prst="rect">
            <a:avLst/>
          </a:prstGeom>
        </p:spPr>
      </p:pic>
    </p:spTree>
    <p:extLst>
      <p:ext uri="{BB962C8B-B14F-4D97-AF65-F5344CB8AC3E}">
        <p14:creationId xmlns:p14="http://schemas.microsoft.com/office/powerpoint/2010/main" val="4056267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83719" y="296639"/>
            <a:ext cx="11340000" cy="1741273"/>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2" name="Picture 1" descr="How to Write a Genuine Thank You Note - Sugar and Spice">
            <a:extLst>
              <a:ext uri="{FF2B5EF4-FFF2-40B4-BE49-F238E27FC236}">
                <a16:creationId xmlns:a16="http://schemas.microsoft.com/office/drawing/2014/main" id="{11872739-5212-608D-0FF6-8407C3971B80}"/>
              </a:ext>
            </a:extLst>
          </p:cNvPr>
          <p:cNvPicPr>
            <a:picLocks noChangeAspect="1"/>
          </p:cNvPicPr>
          <p:nvPr/>
        </p:nvPicPr>
        <p:blipFill>
          <a:blip r:embed="rId3"/>
          <a:stretch>
            <a:fillRect/>
          </a:stretch>
        </p:blipFill>
        <p:spPr>
          <a:xfrm>
            <a:off x="2456863" y="2058310"/>
            <a:ext cx="7928874" cy="4168346"/>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588</TotalTime>
  <Words>528</Words>
  <Application>Microsoft Office PowerPoint</Application>
  <PresentationFormat>Widescreen</PresentationFormat>
  <Paragraphs>54</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Trebuchet MS</vt:lpstr>
      <vt:lpstr>Wingdings</vt:lpstr>
      <vt:lpstr>Wingdings 3</vt:lpstr>
      <vt:lpstr>Facet</vt:lpstr>
      <vt:lpstr>Project Title – Healthcare Analysis for Doctor Visits TIRTC</vt:lpstr>
      <vt:lpstr>PROBLEM  STATEMENT</vt:lpstr>
      <vt:lpstr>Project Description  </vt:lpstr>
      <vt:lpstr>WHO ARE THE END USERS?</vt:lpstr>
      <vt:lpstr>Technology Used</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Ravi Ranjan Kumar</cp:lastModifiedBy>
  <cp:revision>74</cp:revision>
  <dcterms:created xsi:type="dcterms:W3CDTF">2021-07-11T13:13:15Z</dcterms:created>
  <dcterms:modified xsi:type="dcterms:W3CDTF">2026-10-10T17:17:56Z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